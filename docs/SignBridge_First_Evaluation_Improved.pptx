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005840"/>
            <a:ext cx="4754880" cy="4754880"/>
          </a:xfrm>
          <a:prstGeom prst="ellipse">
            <a:avLst/>
          </a:prstGeom>
          <a:solidFill>
            <a:srgbClr val="1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685800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ptos"/>
              </a:rPr>
              <a:t>SIGNBRIDGE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694944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000" b="1">
                <a:solidFill>
                  <a:srgbClr val="DCEFFA"/>
                </a:solidFill>
                <a:latin typeface="Aptos"/>
              </a:rPr>
              <a:t>Real-time sign language recognition
from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794760"/>
            <a:ext cx="67665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0">
                <a:solidFill>
                  <a:srgbClr val="ADCDE1"/>
                </a:solidFill>
                <a:latin typeface="Aptos"/>
              </a:rPr>
              <a:t>Project Module  •  First evaluation  •  10-minute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4892040"/>
            <a:ext cx="676656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Student A: Ikram Ferchichi     |     Student B: Malak Ghannouchi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6080760"/>
            <a:ext cx="594360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EB8A6"/>
                </a:solidFill>
                <a:latin typeface="Aptos"/>
              </a:rPr>
              <a:t>From landmarks to a live transcript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0C1F36"/>
                </a:solidFill>
                <a:latin typeface="Aptos"/>
              </a:rPr>
              <a:t>The problem and our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93192"/>
            <a:ext cx="13716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100" b="0">
                <a:solidFill>
                  <a:srgbClr val="54697E"/>
                </a:solidFill>
                <a:latin typeface="Aptos"/>
              </a:rPr>
              <a:t>02  |  1:00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54697E"/>
                </a:solidFill>
                <a:latin typeface="Aptos"/>
              </a:rPr>
              <a:t>SIGNBRIDGE  •  PROJECT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54697E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5257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48056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400" b="1">
                <a:solidFill>
                  <a:srgbClr val="227EE6"/>
                </a:solidFill>
                <a:latin typeface="Aptos"/>
              </a:rPr>
              <a:t>Communication barriers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4526280" cy="219456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C1F36"/>
                </a:solidFill>
                <a:latin typeface="Aptos"/>
              </a:defRPr>
            </a:pPr>
            <a:r>
              <a:t>Interpreters are rarely available in public services, schools, and workplaces.</a:t>
            </a:r>
          </a:p>
          <a:p>
            <a:pPr>
              <a:spcAft>
                <a:spcPts val="800"/>
              </a:spcAft>
              <a:defRPr sz="1800">
                <a:solidFill>
                  <a:srgbClr val="0C1F36"/>
                </a:solidFill>
                <a:latin typeface="Aptos"/>
              </a:defRPr>
            </a:pPr>
            <a:r>
              <a:t>Existing solutions can be expensive, difficult to deploy, or not real-time.</a:t>
            </a:r>
          </a:p>
          <a:p>
            <a:pPr>
              <a:spcAft>
                <a:spcPts val="800"/>
              </a:spcAft>
              <a:defRPr sz="1800">
                <a:solidFill>
                  <a:srgbClr val="0C1F36"/>
                </a:solidFill>
                <a:latin typeface="Aptos"/>
              </a:defRPr>
            </a:pPr>
            <a:r>
              <a:t>Signers need feedback that is understandable and immediate.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663440"/>
            <a:ext cx="9144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F49D3B"/>
                </a:solidFill>
                <a:latin typeface="Aptos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572000"/>
            <a:ext cx="3840480" cy="6858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000" b="1">
                <a:solidFill>
                  <a:srgbClr val="0C1F36"/>
                </a:solidFill>
                <a:latin typeface="Aptos"/>
              </a:rPr>
              <a:t>Recognize isolated signs from a webcam or video and turn them into readable 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34440"/>
            <a:ext cx="5394960" cy="4526280"/>
          </a:xfrm>
          <a:prstGeom prst="roundRect">
            <a:avLst/>
          </a:prstGeom>
          <a:solidFill>
            <a:srgbClr val="0C1F36"/>
          </a:solidFill>
          <a:ln w="12700">
            <a:solidFill>
              <a:srgbClr val="0C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72768"/>
            <a:ext cx="43891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400" b="1">
                <a:solidFill>
                  <a:srgbClr val="1EB8A6"/>
                </a:solidFill>
                <a:latin typeface="Aptos"/>
              </a:rPr>
              <a:t>Project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148840"/>
            <a:ext cx="4526280" cy="246888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Vocabulary: 50–100 isolated signs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Input: webcam or uploaded video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Output: prediction, confidence, transcript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Target: useful real-time performance on a laptop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80"/>
            <a:ext cx="438912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CBE0EE"/>
                </a:solidFill>
                <a:latin typeface="Aptos"/>
              </a:rPr>
              <a:t>Continuous sign-language translation is outside this first scope.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0C1F36"/>
                </a:solidFill>
                <a:latin typeface="Aptos"/>
              </a:rPr>
              <a:t>How a user interacts with SignBridge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93192"/>
            <a:ext cx="13716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100" b="0">
                <a:solidFill>
                  <a:srgbClr val="54697E"/>
                </a:solidFill>
                <a:latin typeface="Aptos"/>
              </a:rPr>
              <a:t>03  |  1:15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54697E"/>
                </a:solidFill>
                <a:latin typeface="Aptos"/>
              </a:rPr>
              <a:t>SIGNBRIDGE  •  PROJECT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54697E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88720"/>
            <a:ext cx="10972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169164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2057400"/>
            <a:ext cx="685800" cy="685800"/>
          </a:xfrm>
          <a:prstGeom prst="ellipse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157984"/>
            <a:ext cx="6858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971800"/>
            <a:ext cx="1463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0C1F36"/>
                </a:solidFill>
                <a:latin typeface="Aptos"/>
              </a:rPr>
              <a:t>Open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39" y="3493008"/>
            <a:ext cx="1417320" cy="6858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54697E"/>
                </a:solidFill>
                <a:latin typeface="Aptos"/>
              </a:rPr>
              <a:t>Webcam or video 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39" y="2880360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500" b="1">
                <a:solidFill>
                  <a:srgbClr val="F49D3B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1828800"/>
            <a:ext cx="169164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74720" y="2057400"/>
            <a:ext cx="685800" cy="685800"/>
          </a:xfrm>
          <a:prstGeom prst="ellipse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157984"/>
            <a:ext cx="6858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2971800"/>
            <a:ext cx="1463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0C1F36"/>
                </a:solidFill>
                <a:latin typeface="Aptos"/>
              </a:rPr>
              <a:t>See skeleton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493008"/>
            <a:ext cx="1417320" cy="6858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54697E"/>
                </a:solidFill>
                <a:latin typeface="Aptos"/>
              </a:rPr>
              <a:t>Hands, body, face landmarks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880360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500" b="1">
                <a:solidFill>
                  <a:srgbClr val="F49D3B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74920" y="1828800"/>
            <a:ext cx="169164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77840" y="2057400"/>
            <a:ext cx="685800" cy="685800"/>
          </a:xfrm>
          <a:prstGeom prst="ellipse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2157984"/>
            <a:ext cx="6858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4648" y="2971800"/>
            <a:ext cx="1463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0C1F36"/>
                </a:solidFill>
                <a:latin typeface="Aptos"/>
              </a:rPr>
              <a:t>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493008"/>
            <a:ext cx="1417320" cy="6858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54697E"/>
                </a:solidFill>
                <a:latin typeface="Aptos"/>
              </a:rPr>
              <a:t>One isolated sign at a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79" y="2880360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500" b="1">
                <a:solidFill>
                  <a:srgbClr val="F49D3B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78040" y="1828800"/>
            <a:ext cx="169164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80960" y="2057400"/>
            <a:ext cx="685800" cy="685800"/>
          </a:xfrm>
          <a:prstGeom prst="ellipse">
            <a:avLst/>
          </a:prstGeom>
          <a:solidFill>
            <a:srgbClr val="1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2157984"/>
            <a:ext cx="6858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87768" y="2971800"/>
            <a:ext cx="1463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0C1F36"/>
                </a:solidFill>
                <a:latin typeface="Aptos"/>
              </a:rPr>
              <a:t>Get feedback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493008"/>
            <a:ext cx="1417320" cy="6858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54697E"/>
                </a:solidFill>
                <a:latin typeface="Aptos"/>
              </a:rPr>
              <a:t>Top predictions + confidence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2880360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500" b="1">
                <a:solidFill>
                  <a:srgbClr val="F49D3B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81159" y="1828800"/>
            <a:ext cx="169164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84080" y="2057400"/>
            <a:ext cx="685800" cy="685800"/>
          </a:xfrm>
          <a:prstGeom prst="ellipse">
            <a:avLst/>
          </a:prstGeom>
          <a:solidFill>
            <a:srgbClr val="1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2157984"/>
            <a:ext cx="6858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90887" y="2971800"/>
            <a:ext cx="1463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0C1F36"/>
                </a:solidFill>
                <a:latin typeface="Aptos"/>
              </a:rPr>
              <a:t>Read transcript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19" y="3493008"/>
            <a:ext cx="1417320" cy="6858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54697E"/>
                </a:solidFill>
                <a:latin typeface="Aptos"/>
              </a:rPr>
              <a:t>Smoothed running 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074920"/>
            <a:ext cx="100584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227EE6"/>
                </a:solidFill>
                <a:latin typeface="Aptos"/>
              </a:rPr>
              <a:t>Practice mode: learners can repeat a sign and check whether the system recognizes it correctly.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0C1F36"/>
                </a:solidFill>
                <a:latin typeface="Aptos"/>
              </a:rPr>
              <a:t>How we will build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93192"/>
            <a:ext cx="13716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100" b="0">
                <a:solidFill>
                  <a:srgbClr val="54697E"/>
                </a:solidFill>
                <a:latin typeface="Aptos"/>
              </a:rPr>
              <a:t>04  |  1:15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54697E"/>
                </a:solidFill>
                <a:latin typeface="Aptos"/>
              </a:rPr>
              <a:t>SIGNBRIDGE  •  PROJECT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54697E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88720"/>
            <a:ext cx="10972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17373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011680"/>
            <a:ext cx="658368" cy="658368"/>
          </a:xfrm>
          <a:prstGeom prst="ellipse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112264"/>
            <a:ext cx="658368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155448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0C1F36"/>
                </a:solidFill>
                <a:latin typeface="Aptos"/>
              </a:rPr>
              <a:t>Video 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01568"/>
            <a:ext cx="146304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0">
                <a:solidFill>
                  <a:srgbClr val="54697E"/>
                </a:solidFill>
                <a:latin typeface="Aptos"/>
              </a:rPr>
              <a:t>Webcam / uploaded clip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743200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300" b="1">
                <a:solidFill>
                  <a:srgbClr val="F49D3B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1783080"/>
            <a:ext cx="17373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02152" y="2011680"/>
            <a:ext cx="658368" cy="658368"/>
          </a:xfrm>
          <a:prstGeom prst="ellipse">
            <a:avLst/>
          </a:prstGeom>
          <a:solidFill>
            <a:srgbClr val="1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2112264"/>
            <a:ext cx="658368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2880360"/>
            <a:ext cx="155448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0C1F36"/>
                </a:solidFill>
                <a:latin typeface="Aptos"/>
              </a:rPr>
              <a:t>Landmarks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401568"/>
            <a:ext cx="146304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0">
                <a:solidFill>
                  <a:srgbClr val="54697E"/>
                </a:solidFill>
                <a:latin typeface="Aptos"/>
              </a:rPr>
              <a:t>Hands + pose + 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743200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300" b="1">
                <a:solidFill>
                  <a:srgbClr val="F49D3B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1783080"/>
            <a:ext cx="17373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50992" y="2011680"/>
            <a:ext cx="658368" cy="658368"/>
          </a:xfrm>
          <a:prstGeom prst="ellipse">
            <a:avLst/>
          </a:prstGeom>
          <a:solidFill>
            <a:srgbClr val="F49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50992" y="2112264"/>
            <a:ext cx="658368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880360"/>
            <a:ext cx="155448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0C1F36"/>
                </a:solidFill>
                <a:latin typeface="Aptos"/>
              </a:rPr>
              <a:t>Sequence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401568"/>
            <a:ext cx="146304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0">
                <a:solidFill>
                  <a:srgbClr val="54697E"/>
                </a:solidFill>
                <a:latin typeface="Aptos"/>
              </a:rPr>
              <a:t>Normalize + 32 frames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743200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300" b="1">
                <a:solidFill>
                  <a:srgbClr val="F49D3B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80" y="1783080"/>
            <a:ext cx="17373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99832" y="2011680"/>
            <a:ext cx="658368" cy="658368"/>
          </a:xfrm>
          <a:prstGeom prst="ellipse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9832" y="2112264"/>
            <a:ext cx="658368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2880360"/>
            <a:ext cx="155448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0C1F36"/>
                </a:solidFill>
                <a:latin typeface="Aptos"/>
              </a:rPr>
              <a:t>Classifier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3401568"/>
            <a:ext cx="146304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0">
                <a:solidFill>
                  <a:srgbClr val="54697E"/>
                </a:solidFill>
                <a:latin typeface="Aptos"/>
              </a:rPr>
              <a:t>GRU / Transformer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2743200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300" b="1">
                <a:solidFill>
                  <a:srgbClr val="F49D3B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18320" y="1783080"/>
            <a:ext cx="17373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48672" y="2011680"/>
            <a:ext cx="658368" cy="658368"/>
          </a:xfrm>
          <a:prstGeom prst="ellipse">
            <a:avLst/>
          </a:prstGeom>
          <a:solidFill>
            <a:srgbClr val="1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48672" y="2112264"/>
            <a:ext cx="658368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2880360"/>
            <a:ext cx="155448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0C1F36"/>
                </a:solidFill>
                <a:latin typeface="Aptos"/>
              </a:rPr>
              <a:t>Transcript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5480" y="3401568"/>
            <a:ext cx="146304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0">
                <a:solidFill>
                  <a:srgbClr val="54697E"/>
                </a:solidFill>
                <a:latin typeface="Aptos"/>
              </a:rPr>
              <a:t>Smooth + confidence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663440"/>
            <a:ext cx="1024128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227EE6"/>
                </a:solidFill>
                <a:latin typeface="Aptos"/>
              </a:rPr>
              <a:t>Implementation principle: keep the live path lightweight; use heavier video models as an accuracy reference.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166360"/>
            <a:ext cx="1024128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0">
                <a:solidFill>
                  <a:srgbClr val="54697E"/>
                </a:solidFill>
                <a:latin typeface="Aptos"/>
              </a:rPr>
              <a:t>The same preprocessing and signer-aware split are used for every model, so the comparison is fair.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0C1F36"/>
                </a:solidFill>
                <a:latin typeface="Aptos"/>
              </a:rPr>
              <a:t>AI components and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93192"/>
            <a:ext cx="13716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100" b="0">
                <a:solidFill>
                  <a:srgbClr val="54697E"/>
                </a:solidFill>
                <a:latin typeface="Aptos"/>
              </a:rPr>
              <a:t>05  |  1:20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54697E"/>
                </a:solidFill>
                <a:latin typeface="Aptos"/>
              </a:rPr>
              <a:t>SIGNBRIDGE  •  PROJECT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54697E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3520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30175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300" b="1">
                <a:solidFill>
                  <a:srgbClr val="227EE6"/>
                </a:solidFill>
                <a:latin typeface="Aptos"/>
              </a:rPr>
              <a:t>Representation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3017520" cy="256032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C1F36"/>
                </a:solidFill>
                <a:latin typeface="Aptos"/>
              </a:defRPr>
            </a:pPr>
            <a:r>
              <a:t>MediaPipe Holistic</a:t>
            </a:r>
          </a:p>
          <a:p>
            <a:pPr>
              <a:spcAft>
                <a:spcPts val="800"/>
              </a:spcAft>
              <a:defRPr sz="1700">
                <a:solidFill>
                  <a:srgbClr val="0C1F36"/>
                </a:solidFill>
                <a:latin typeface="Aptos"/>
              </a:defRPr>
            </a:pPr>
            <a:r>
              <a:t>Hands + pose comparison</a:t>
            </a:r>
          </a:p>
          <a:p>
            <a:pPr>
              <a:spcAft>
                <a:spcPts val="800"/>
              </a:spcAft>
              <a:defRPr sz="1700">
                <a:solidFill>
                  <a:srgbClr val="0C1F36"/>
                </a:solidFill>
                <a:latin typeface="Aptos"/>
              </a:defRPr>
            </a:pPr>
            <a:r>
              <a:t>Normalize around shoulders</a:t>
            </a:r>
          </a:p>
          <a:p>
            <a:pPr>
              <a:spcAft>
                <a:spcPts val="800"/>
              </a:spcAft>
              <a:defRPr sz="1700">
                <a:solidFill>
                  <a:srgbClr val="0C1F36"/>
                </a:solidFill>
                <a:latin typeface="Aptos"/>
              </a:defRPr>
            </a:pPr>
            <a:r>
              <a:t>32–64 frame sequences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280160"/>
            <a:ext cx="3520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572768"/>
            <a:ext cx="30175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300" b="1">
                <a:solidFill>
                  <a:srgbClr val="1EB8A6"/>
                </a:solidFill>
                <a:latin typeface="Aptos"/>
              </a:rPr>
              <a:t>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148840"/>
            <a:ext cx="3017520" cy="256032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C1F36"/>
                </a:solidFill>
                <a:latin typeface="Aptos"/>
              </a:defRPr>
            </a:pPr>
            <a:r>
              <a:t>Landmarks + GRU</a:t>
            </a:r>
          </a:p>
          <a:p>
            <a:pPr>
              <a:spcAft>
                <a:spcPts val="800"/>
              </a:spcAft>
              <a:defRPr sz="1700">
                <a:solidFill>
                  <a:srgbClr val="0C1F36"/>
                </a:solidFill>
                <a:latin typeface="Aptos"/>
              </a:defRPr>
            </a:pPr>
            <a:r>
              <a:t>Landmarks + light Transformer</a:t>
            </a:r>
          </a:p>
          <a:p>
            <a:pPr>
              <a:spcAft>
                <a:spcPts val="800"/>
              </a:spcAft>
              <a:defRPr sz="1700">
                <a:solidFill>
                  <a:srgbClr val="0C1F36"/>
                </a:solidFill>
                <a:latin typeface="Aptos"/>
              </a:defRPr>
            </a:pPr>
            <a:r>
              <a:t>CNN + LSTM on frames</a:t>
            </a:r>
          </a:p>
          <a:p>
            <a:pPr>
              <a:spcAft>
                <a:spcPts val="800"/>
              </a:spcAft>
              <a:defRPr sz="1700">
                <a:solidFill>
                  <a:srgbClr val="0C1F36"/>
                </a:solidFill>
                <a:latin typeface="Aptos"/>
              </a:defRPr>
            </a:pPr>
            <a:r>
              <a:t>Pretrained video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280160"/>
            <a:ext cx="3520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572768"/>
            <a:ext cx="30175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300" b="1">
                <a:solidFill>
                  <a:srgbClr val="F49D3B"/>
                </a:solidFill>
                <a:latin typeface="Aptos"/>
              </a:rPr>
              <a:t>Post-processing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148840"/>
            <a:ext cx="3017520" cy="256032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C1F36"/>
                </a:solidFill>
                <a:latin typeface="Aptos"/>
              </a:defRPr>
            </a:pPr>
            <a:r>
              <a:t>Sliding-window buffer</a:t>
            </a:r>
          </a:p>
          <a:p>
            <a:pPr>
              <a:spcAft>
                <a:spcPts val="800"/>
              </a:spcAft>
              <a:defRPr sz="1700">
                <a:solidFill>
                  <a:srgbClr val="0C1F36"/>
                </a:solidFill>
                <a:latin typeface="Aptos"/>
              </a:defRPr>
            </a:pPr>
            <a:r>
              <a:t>Majority vote</a:t>
            </a:r>
          </a:p>
          <a:p>
            <a:pPr>
              <a:spcAft>
                <a:spcPts val="800"/>
              </a:spcAft>
              <a:defRPr sz="1700">
                <a:solidFill>
                  <a:srgbClr val="0C1F36"/>
                </a:solidFill>
                <a:latin typeface="Aptos"/>
              </a:defRPr>
            </a:pPr>
            <a:r>
              <a:t>Confidence threshold</a:t>
            </a:r>
          </a:p>
          <a:p>
            <a:pPr>
              <a:spcAft>
                <a:spcPts val="800"/>
              </a:spcAft>
              <a:defRPr sz="1700">
                <a:solidFill>
                  <a:srgbClr val="0C1F36"/>
                </a:solidFill>
                <a:latin typeface="Aptos"/>
              </a:defRPr>
            </a:pPr>
            <a:r>
              <a:t>Low-confidence warning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70448"/>
            <a:ext cx="1024128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0C1F36"/>
                </a:solidFill>
                <a:latin typeface="Aptos"/>
              </a:rPr>
              <a:t>Why multiple models? We want an honest accuracy–latency trade-off, not only the highest offline 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0C1F36"/>
                </a:solidFill>
                <a:latin typeface="Aptos"/>
              </a:rPr>
              <a:t>Complete workflow: data to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93192"/>
            <a:ext cx="13716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100" b="0">
                <a:solidFill>
                  <a:srgbClr val="54697E"/>
                </a:solidFill>
                <a:latin typeface="Aptos"/>
              </a:rPr>
              <a:t>06  |  1:45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54697E"/>
                </a:solidFill>
                <a:latin typeface="Aptos"/>
              </a:rPr>
              <a:t>SIGNBRIDGE  •  PROJECT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54697E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788920"/>
            <a:ext cx="1508760" cy="1051560"/>
          </a:xfrm>
          <a:prstGeom prst="roundRect">
            <a:avLst/>
          </a:prstGeom>
          <a:solidFill>
            <a:srgbClr val="227EE6"/>
          </a:solidFill>
          <a:ln w="12700">
            <a:solidFill>
              <a:srgbClr val="227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999232"/>
            <a:ext cx="1362456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12264" y="3090672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400" b="1">
                <a:solidFill>
                  <a:srgbClr val="F49D3B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2788920"/>
            <a:ext cx="1508760" cy="1051560"/>
          </a:xfrm>
          <a:prstGeom prst="roundRect">
            <a:avLst/>
          </a:prstGeom>
          <a:solidFill>
            <a:srgbClr val="1EB8A6"/>
          </a:solidFill>
          <a:ln w="12700">
            <a:solidFill>
              <a:srgbClr val="1E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87752" y="2999232"/>
            <a:ext cx="1362456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2504" y="3090672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400" b="1">
                <a:solidFill>
                  <a:srgbClr val="F49D3B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788920"/>
            <a:ext cx="1508760" cy="1051560"/>
          </a:xfrm>
          <a:prstGeom prst="roundRect">
            <a:avLst/>
          </a:prstGeom>
          <a:solidFill>
            <a:srgbClr val="227EE6"/>
          </a:solidFill>
          <a:ln w="12700">
            <a:solidFill>
              <a:srgbClr val="227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999232"/>
            <a:ext cx="1362456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Extract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52744" y="3090672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400" b="1">
                <a:solidFill>
                  <a:srgbClr val="F49D3B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788920"/>
            <a:ext cx="1508760" cy="1051560"/>
          </a:xfrm>
          <a:prstGeom prst="roundRect">
            <a:avLst/>
          </a:prstGeom>
          <a:solidFill>
            <a:srgbClr val="F49D3B"/>
          </a:solidFill>
          <a:ln w="12700">
            <a:solidFill>
              <a:srgbClr val="F49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2999232"/>
            <a:ext cx="1362456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Train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2984" y="3090672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400" b="1">
                <a:solidFill>
                  <a:srgbClr val="F49D3B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2788920"/>
            <a:ext cx="1508760" cy="1051560"/>
          </a:xfrm>
          <a:prstGeom prst="roundRect">
            <a:avLst/>
          </a:prstGeom>
          <a:solidFill>
            <a:srgbClr val="1EB8A6"/>
          </a:solidFill>
          <a:ln w="12700">
            <a:solidFill>
              <a:srgbClr val="1E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2" y="2999232"/>
            <a:ext cx="1362456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Compare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3224" y="3090672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400" b="1">
                <a:solidFill>
                  <a:srgbClr val="F49D3B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95560" y="2788920"/>
            <a:ext cx="1508760" cy="1051560"/>
          </a:xfrm>
          <a:prstGeom prst="roundRect">
            <a:avLst/>
          </a:prstGeom>
          <a:solidFill>
            <a:srgbClr val="227EE6"/>
          </a:solidFill>
          <a:ln w="12700">
            <a:solidFill>
              <a:srgbClr val="227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8712" y="2999232"/>
            <a:ext cx="1362456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Deploy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34340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599432"/>
            <a:ext cx="68580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1EB8A6"/>
                </a:solidFill>
                <a:latin typeface="Aptos"/>
              </a:rPr>
              <a:t>DVC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4599432"/>
            <a:ext cx="384048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1">
                <a:solidFill>
                  <a:srgbClr val="0C1F36"/>
                </a:solidFill>
                <a:latin typeface="Aptos"/>
              </a:rPr>
              <a:t>raw videos → landmarks → processed splits → models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4599432"/>
            <a:ext cx="91440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F49D3B"/>
                </a:solidFill>
                <a:latin typeface="Aptos"/>
              </a:rPr>
              <a:t>MLflow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599432"/>
            <a:ext cx="3749039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1">
                <a:solidFill>
                  <a:srgbClr val="0C1F36"/>
                </a:solidFill>
                <a:latin typeface="Aptos"/>
              </a:rPr>
              <a:t>parameters • metrics • confusion matrices • artifacts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227EE6"/>
                </a:solidFill>
                <a:latin typeface="Aptos"/>
              </a:rPr>
              <a:t>Signer-aware split prevents data leakage and gives an honest generalization result.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0C1F36"/>
                </a:solidFill>
                <a:latin typeface="Aptos"/>
              </a:rPr>
              <a:t>Evaluation plan and expected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93192"/>
            <a:ext cx="13716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100" b="0">
                <a:solidFill>
                  <a:srgbClr val="54697E"/>
                </a:solidFill>
                <a:latin typeface="Aptos"/>
              </a:rPr>
              <a:t>07  |  1:20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54697E"/>
                </a:solidFill>
                <a:latin typeface="Aptos"/>
              </a:rPr>
              <a:t>SIGNBRIDGE  •  PROJECT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54697E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2120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43891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400" b="1">
                <a:solidFill>
                  <a:srgbClr val="227EE6"/>
                </a:solidFill>
                <a:latin typeface="Aptos"/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480560" cy="288036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C1F36"/>
                </a:solidFill>
                <a:latin typeface="Aptos"/>
              </a:defRPr>
            </a:pPr>
            <a:r>
              <a:t>Top-1 and top-5 accuracy</a:t>
            </a:r>
          </a:p>
          <a:p>
            <a:pPr>
              <a:spcAft>
                <a:spcPts val="800"/>
              </a:spcAft>
              <a:defRPr sz="1800">
                <a:solidFill>
                  <a:srgbClr val="0C1F36"/>
                </a:solidFill>
                <a:latin typeface="Aptos"/>
              </a:defRPr>
            </a:pPr>
            <a:r>
              <a:t>Macro-F1 and confusion matrix</a:t>
            </a:r>
          </a:p>
          <a:p>
            <a:pPr>
              <a:spcAft>
                <a:spcPts val="800"/>
              </a:spcAft>
              <a:defRPr sz="1800">
                <a:solidFill>
                  <a:srgbClr val="0C1F36"/>
                </a:solidFill>
                <a:latin typeface="Aptos"/>
              </a:defRPr>
            </a:pPr>
            <a:r>
              <a:t>FPS, response latency, and model size</a:t>
            </a:r>
          </a:p>
          <a:p>
            <a:pPr>
              <a:spcAft>
                <a:spcPts val="800"/>
              </a:spcAft>
              <a:defRPr sz="1800">
                <a:solidFill>
                  <a:srgbClr val="0C1F36"/>
                </a:solidFill>
                <a:latin typeface="Aptos"/>
              </a:defRPr>
            </a:pPr>
            <a:r>
              <a:t>Word error rate for short continuous clips</a:t>
            </a:r>
          </a:p>
          <a:p>
            <a:pPr>
              <a:spcAft>
                <a:spcPts val="800"/>
              </a:spcAft>
              <a:defRPr sz="1800">
                <a:solidFill>
                  <a:srgbClr val="0C1F36"/>
                </a:solidFill>
                <a:latin typeface="Aptos"/>
              </a:defRPr>
            </a:pPr>
            <a:r>
              <a:t>Performance per signer and on custom clips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257800" cy="4526280"/>
          </a:xfrm>
          <a:prstGeom prst="roundRect">
            <a:avLst/>
          </a:prstGeom>
          <a:solidFill>
            <a:srgbClr val="0C1F36"/>
          </a:solidFill>
          <a:ln w="12700">
            <a:solidFill>
              <a:srgbClr val="0C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572768"/>
            <a:ext cx="43891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400" b="1">
                <a:solidFill>
                  <a:srgbClr val="1EB8A6"/>
                </a:solidFill>
                <a:latin typeface="Aptos"/>
              </a:rPr>
              <a:t>Targets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148840"/>
            <a:ext cx="4434840" cy="256032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60–80% top-1 accuracy is a realistic initial target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Over 20 FPS end-to-end for a lightweight landmark model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Clear accuracy vs speed comparison table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Working live demo plus recorded fallback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5029200"/>
            <a:ext cx="429768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CBE0EE"/>
                </a:solidFill>
                <a:latin typeface="Aptos"/>
              </a:rPr>
              <a:t>We will report limitations, not hide failure cases.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0C1F36"/>
                </a:solidFill>
                <a:latin typeface="Aptos"/>
              </a:rPr>
              <a:t>Tools mapped to the professor's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93192"/>
            <a:ext cx="13716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100" b="0">
                <a:solidFill>
                  <a:srgbClr val="54697E"/>
                </a:solidFill>
                <a:latin typeface="Aptos"/>
              </a:rPr>
              <a:t>08  |  0:55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54697E"/>
                </a:solidFill>
                <a:latin typeface="Aptos"/>
              </a:rPr>
              <a:t>SIGNBRIDGE  •  PROJECT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54697E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0744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63039"/>
            <a:ext cx="21031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54697E"/>
                </a:solidFill>
                <a:latin typeface="Aptos"/>
              </a:rPr>
              <a:t>Version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463039"/>
            <a:ext cx="21945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227EE6"/>
                </a:solidFill>
                <a:latin typeface="Aptos"/>
              </a:rPr>
              <a:t>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463039"/>
            <a:ext cx="566928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0C1F36"/>
                </a:solidFill>
                <a:latin typeface="Aptos"/>
              </a:rPr>
              <a:t>Branches, issues, pull requests, visible contributions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48840"/>
            <a:ext cx="10744200" cy="749808"/>
          </a:xfrm>
          <a:prstGeom prst="roundRect">
            <a:avLst/>
          </a:prstGeom>
          <a:solidFill>
            <a:srgbClr val="E5F0F8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286000"/>
            <a:ext cx="21031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54697E"/>
                </a:solidFill>
                <a:latin typeface="Aptos"/>
              </a:rPr>
              <a:t>Data versioning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286000"/>
            <a:ext cx="21945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227EE6"/>
                </a:solidFill>
                <a:latin typeface="Aptos"/>
              </a:rPr>
              <a:t>DVC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2286000"/>
            <a:ext cx="566928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0C1F36"/>
                </a:solidFill>
                <a:latin typeface="Aptos"/>
              </a:rPr>
              <a:t>Reproducible data and model artifacts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71800"/>
            <a:ext cx="10744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108960"/>
            <a:ext cx="21031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54697E"/>
                </a:solidFill>
                <a:latin typeface="Aptos"/>
              </a:rPr>
              <a:t>Experiment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108960"/>
            <a:ext cx="21945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227EE6"/>
                </a:solidFill>
                <a:latin typeface="Aptos"/>
              </a:rPr>
              <a:t>MLflow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3108960"/>
            <a:ext cx="566928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0C1F36"/>
                </a:solidFill>
                <a:latin typeface="Aptos"/>
              </a:rPr>
              <a:t>Parameters, metrics, artifacts, model comparison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94760"/>
            <a:ext cx="10744200" cy="749808"/>
          </a:xfrm>
          <a:prstGeom prst="roundRect">
            <a:avLst/>
          </a:prstGeom>
          <a:solidFill>
            <a:srgbClr val="E5F0F8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931920"/>
            <a:ext cx="21031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54697E"/>
                </a:solidFill>
                <a:latin typeface="Aptos"/>
              </a:rPr>
              <a:t>AI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3931920"/>
            <a:ext cx="21945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1EB8A6"/>
                </a:solidFill>
                <a:latin typeface="Aptos"/>
              </a:rPr>
              <a:t>PyTorch + MediaPipe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3931920"/>
            <a:ext cx="566928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0C1F36"/>
                </a:solidFill>
                <a:latin typeface="Aptos"/>
              </a:rPr>
              <a:t>Temporal models and landmark extraction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617720"/>
            <a:ext cx="10744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754880"/>
            <a:ext cx="21031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54697E"/>
                </a:solidFill>
                <a:latin typeface="Aptos"/>
              </a:rPr>
              <a:t>Application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4754880"/>
            <a:ext cx="21945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1EB8A6"/>
                </a:solidFill>
                <a:latin typeface="Aptos"/>
              </a:rPr>
              <a:t>FastAPI + Streamlit/Gradio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4754880"/>
            <a:ext cx="566928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0C1F36"/>
                </a:solidFill>
                <a:latin typeface="Aptos"/>
              </a:rPr>
              <a:t>Free real-time API and interface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227EE6"/>
                </a:solidFill>
                <a:latin typeface="Aptos"/>
              </a:rPr>
              <a:t>All selected tools are free/open-source and designed to run on a normal laptop.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0C1F36"/>
                </a:solidFill>
                <a:latin typeface="Aptos"/>
              </a:rPr>
              <a:t>Team roles and continuous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93192"/>
            <a:ext cx="13716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100" b="0">
                <a:solidFill>
                  <a:srgbClr val="54697E"/>
                </a:solidFill>
                <a:latin typeface="Aptos"/>
              </a:rPr>
              <a:t>09  |  0:45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54697E"/>
                </a:solidFill>
                <a:latin typeface="Aptos"/>
              </a:rPr>
              <a:t>SIGNBRIDGE  •  PROJECT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54697E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53035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44805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300" b="1">
                <a:solidFill>
                  <a:srgbClr val="227EE6"/>
                </a:solidFill>
                <a:latin typeface="Aptos"/>
              </a:rPr>
              <a:t>Student A  •  Vision /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526280" cy="256032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C1F36"/>
                </a:solidFill>
                <a:latin typeface="Aptos"/>
              </a:defRPr>
            </a:pPr>
            <a:r>
              <a:t>Dataset preparation and signer-aware splits</a:t>
            </a:r>
          </a:p>
          <a:p>
            <a:pPr>
              <a:spcAft>
                <a:spcPts val="800"/>
              </a:spcAft>
              <a:defRPr sz="1800">
                <a:solidFill>
                  <a:srgbClr val="0C1F36"/>
                </a:solidFill>
                <a:latin typeface="Aptos"/>
              </a:defRPr>
            </a:pPr>
            <a:r>
              <a:t>Landmark extraction and normalization</a:t>
            </a:r>
          </a:p>
          <a:p>
            <a:pPr>
              <a:spcAft>
                <a:spcPts val="800"/>
              </a:spcAft>
              <a:defRPr sz="1800">
                <a:solidFill>
                  <a:srgbClr val="0C1F36"/>
                </a:solidFill>
                <a:latin typeface="Aptos"/>
              </a:defRPr>
            </a:pPr>
            <a:r>
              <a:t>GRU, Transformer, CNN+LSTM training</a:t>
            </a:r>
          </a:p>
          <a:p>
            <a:pPr>
              <a:spcAft>
                <a:spcPts val="800"/>
              </a:spcAft>
              <a:defRPr sz="1800">
                <a:solidFill>
                  <a:srgbClr val="0C1F36"/>
                </a:solidFill>
                <a:latin typeface="Aptos"/>
              </a:defRPr>
            </a:pPr>
            <a:r>
              <a:t>MLflow experiments and comparison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80160"/>
            <a:ext cx="53035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27632"/>
            <a:ext cx="457200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100" b="1">
                <a:solidFill>
                  <a:srgbClr val="1EB8A6"/>
                </a:solidFill>
                <a:latin typeface="Aptos"/>
              </a:rPr>
              <a:t>Student B  •  Real-time / MLOps /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240280"/>
            <a:ext cx="4526280" cy="256032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C1F36"/>
                </a:solidFill>
                <a:latin typeface="Aptos"/>
              </a:defRPr>
            </a:pPr>
            <a:r>
              <a:t>Webcam pipeline and temporal smoothing</a:t>
            </a:r>
          </a:p>
          <a:p>
            <a:pPr>
              <a:spcAft>
                <a:spcPts val="800"/>
              </a:spcAft>
              <a:defRPr sz="1800">
                <a:solidFill>
                  <a:srgbClr val="0C1F36"/>
                </a:solidFill>
                <a:latin typeface="Aptos"/>
              </a:defRPr>
            </a:pPr>
            <a:r>
              <a:t>DVC pipeline and reproducibility</a:t>
            </a:r>
          </a:p>
          <a:p>
            <a:pPr>
              <a:spcAft>
                <a:spcPts val="800"/>
              </a:spcAft>
              <a:defRPr sz="1800">
                <a:solidFill>
                  <a:srgbClr val="0C1F36"/>
                </a:solidFill>
                <a:latin typeface="Aptos"/>
              </a:defRPr>
            </a:pPr>
            <a:r>
              <a:t>FastAPI + frontend integration</a:t>
            </a:r>
          </a:p>
          <a:p>
            <a:pPr>
              <a:spcAft>
                <a:spcPts val="800"/>
              </a:spcAft>
              <a:defRPr sz="1800">
                <a:solidFill>
                  <a:srgbClr val="0C1F36"/>
                </a:solidFill>
                <a:latin typeface="Aptos"/>
              </a:defRPr>
            </a:pPr>
            <a:r>
              <a:t>Docker and drift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97880"/>
            <a:ext cx="1024128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F49D3B"/>
                </a:solidFill>
                <a:latin typeface="Aptos"/>
              </a:rPr>
              <a:t>Both: evaluation, custom clips, report, and 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0C1F36"/>
                </a:solidFill>
                <a:latin typeface="Aptos"/>
              </a:rPr>
              <a:t>What success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93192"/>
            <a:ext cx="13716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100" b="0">
                <a:solidFill>
                  <a:srgbClr val="54697E"/>
                </a:solidFill>
                <a:latin typeface="Aptos"/>
              </a:rPr>
              <a:t>10  |  0:25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54697E"/>
                </a:solidFill>
                <a:latin typeface="Aptos"/>
              </a:rPr>
              <a:t>SIGNBRIDGE  •  PROJECT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54697E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0C1F36"/>
          </a:solidFill>
          <a:ln w="12700">
            <a:solidFill>
              <a:srgbClr val="0C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1874519"/>
            <a:ext cx="950976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900" b="1">
                <a:solidFill>
                  <a:srgbClr val="FFFFFF"/>
                </a:solidFill>
                <a:latin typeface="Aptos"/>
              </a:rPr>
              <a:t>A useful, measurable, reproducible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697480"/>
            <a:ext cx="95097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0">
                <a:solidFill>
                  <a:srgbClr val="CEE8F4"/>
                </a:solidFill>
                <a:latin typeface="Aptos"/>
              </a:rPr>
              <a:t>Recognize isolated signs  •  compare models honestly  •  run in real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29000"/>
            <a:ext cx="95097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1EB8A6"/>
                </a:solidFill>
                <a:latin typeface="Aptos"/>
              </a:rPr>
              <a:t>GitHub + DVC + MLflow make the progress visible and reproducible.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23560"/>
            <a:ext cx="103327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800" b="1">
                <a:solidFill>
                  <a:srgbClr val="227EE6"/>
                </a:solidFill>
                <a:latin typeface="Aptos"/>
              </a:rPr>
              <a:t>Thank you  |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