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005840"/>
            <a:ext cx="4754880" cy="4754880"/>
          </a:xfrm>
          <a:prstGeom prst="ellipse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685800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SIGNBRIDGE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694944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DCEFFA"/>
                </a:solidFill>
                <a:latin typeface="Aptos"/>
              </a:rPr>
              <a:t>Real-time sign language recognition
from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794760"/>
            <a:ext cx="6766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ADCDE1"/>
                </a:solidFill>
                <a:latin typeface="Aptos"/>
              </a:rPr>
              <a:t>Project Module  •  First evaluation  •  10-minute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4892040"/>
            <a:ext cx="676656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Student A: Ikram Ferchichi     |     Student B: Malak Ghannouchi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6080760"/>
            <a:ext cx="59436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EB8A6"/>
                </a:solidFill>
                <a:latin typeface="Aptos"/>
              </a:rPr>
              <a:t>From landmarks to a live transcript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The problem and our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02  |  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4805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227EE6"/>
                </a:solidFill>
                <a:latin typeface="Aptos"/>
              </a:rPr>
              <a:t>Communication barriers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526280" cy="219456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Interpreters are rarely available in public services, schools, and workplaces.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Existing solutions can be expensive, difficult to deploy, or not real-time.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Signers need feedback that is understandable and immediate.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F49D3B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572000"/>
            <a:ext cx="384048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0C1F36"/>
                </a:solidFill>
                <a:latin typeface="Aptos"/>
              </a:rPr>
              <a:t>Recognize isolated signs from a webcam or video and turn them into readable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394960" cy="4526280"/>
          </a:xfrm>
          <a:prstGeom prst="roundRect">
            <a:avLst/>
          </a:prstGeom>
          <a:solidFill>
            <a:srgbClr val="0C1F36"/>
          </a:solidFill>
          <a:ln w="12700">
            <a:solidFill>
              <a:srgbClr val="0C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72768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1EB8A6"/>
                </a:solidFill>
                <a:latin typeface="Aptos"/>
              </a:rPr>
              <a:t>Project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148840"/>
            <a:ext cx="4526280" cy="246888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Vocabulary: 50–100 isolated signs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Input: webcam or uploaded video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Output: prediction, confidence, transcript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Target: useful real-time performance on a laptop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80"/>
            <a:ext cx="438912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CBE0EE"/>
                </a:solidFill>
                <a:latin typeface="Aptos"/>
              </a:rPr>
              <a:t>Continuous sign-language translation is outside this first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How a user interacts with SignBridge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03  |  1:15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10972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16916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2057400"/>
            <a:ext cx="685800" cy="685800"/>
          </a:xfrm>
          <a:prstGeom prst="ellipse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57984"/>
            <a:ext cx="685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71800"/>
            <a:ext cx="1463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1F36"/>
                </a:solidFill>
                <a:latin typeface="Aptos"/>
              </a:rPr>
              <a:t>Open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39" y="3493008"/>
            <a:ext cx="14173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4697E"/>
                </a:solidFill>
                <a:latin typeface="Aptos"/>
              </a:rPr>
              <a:t>Webcam or video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88036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1828800"/>
            <a:ext cx="16916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2057400"/>
            <a:ext cx="685800" cy="685800"/>
          </a:xfrm>
          <a:prstGeom prst="ellipse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157984"/>
            <a:ext cx="685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971800"/>
            <a:ext cx="1463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1F36"/>
                </a:solidFill>
                <a:latin typeface="Aptos"/>
              </a:rPr>
              <a:t>See skeleton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493008"/>
            <a:ext cx="14173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4697E"/>
                </a:solidFill>
                <a:latin typeface="Aptos"/>
              </a:rPr>
              <a:t>Hands, body, face landmarks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88036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1828800"/>
            <a:ext cx="16916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77840" y="2057400"/>
            <a:ext cx="685800" cy="685800"/>
          </a:xfrm>
          <a:prstGeom prst="ellipse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157984"/>
            <a:ext cx="685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8" y="2971800"/>
            <a:ext cx="1463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1F36"/>
                </a:solidFill>
                <a:latin typeface="Aptos"/>
              </a:rPr>
              <a:t>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493008"/>
            <a:ext cx="14173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4697E"/>
                </a:solidFill>
                <a:latin typeface="Aptos"/>
              </a:rPr>
              <a:t>One isolated sign at a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288036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1828800"/>
            <a:ext cx="16916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80960" y="2057400"/>
            <a:ext cx="685800" cy="685800"/>
          </a:xfrm>
          <a:prstGeom prst="ellipse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157984"/>
            <a:ext cx="685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2971800"/>
            <a:ext cx="1463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1F36"/>
                </a:solidFill>
                <a:latin typeface="Aptos"/>
              </a:rPr>
              <a:t>Get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493008"/>
            <a:ext cx="14173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4697E"/>
                </a:solidFill>
                <a:latin typeface="Aptos"/>
              </a:rPr>
              <a:t>Top predictions + 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88036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59" y="1828800"/>
            <a:ext cx="16916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0" y="2057400"/>
            <a:ext cx="685800" cy="685800"/>
          </a:xfrm>
          <a:prstGeom prst="ellipse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2157984"/>
            <a:ext cx="685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7" y="2971800"/>
            <a:ext cx="1463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1F36"/>
                </a:solidFill>
                <a:latin typeface="Aptos"/>
              </a:rPr>
              <a:t>Read transcript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19" y="3493008"/>
            <a:ext cx="14173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4697E"/>
                </a:solidFill>
                <a:latin typeface="Aptos"/>
              </a:rPr>
              <a:t>Smoothed running 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074920"/>
            <a:ext cx="100584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227EE6"/>
                </a:solidFill>
                <a:latin typeface="Aptos"/>
              </a:rPr>
              <a:t>Practice mode: learners can repeat a sign and check whether the system recognizes it correctly.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AI components and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04  |  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175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300" b="1">
                <a:solidFill>
                  <a:srgbClr val="227EE6"/>
                </a:solidFill>
                <a:latin typeface="Aptos"/>
              </a:rPr>
              <a:t>Representation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017520" cy="25603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MediaPipe Holistic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Hands + pose comparison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Normalize around shoulders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32–64 frame sequences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8016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572768"/>
            <a:ext cx="30175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300" b="1">
                <a:solidFill>
                  <a:srgbClr val="1EB8A6"/>
                </a:solidFill>
                <a:latin typeface="Aptos"/>
              </a:rP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48840"/>
            <a:ext cx="3017520" cy="25603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Landmarks + GRU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Landmarks + light Transformer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CNN + LSTM on frames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Pretrained video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28016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572768"/>
            <a:ext cx="30175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300" b="1">
                <a:solidFill>
                  <a:srgbClr val="F49D3B"/>
                </a:solidFill>
                <a:latin typeface="Aptos"/>
              </a:rPr>
              <a:t>Post-processing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148840"/>
            <a:ext cx="3017520" cy="25603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Sliding-window buffer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Majority vote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Confidence threshold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Low-confidence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70448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C1F36"/>
                </a:solidFill>
                <a:latin typeface="Aptos"/>
              </a:rPr>
              <a:t>Why multiple models? We want an honest accuracy–latency trade-off, not only the highest offline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Complete workflow: data to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05  |  2:00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1508760" cy="1051560"/>
          </a:xfrm>
          <a:prstGeom prst="roundRect">
            <a:avLst/>
          </a:prstGeom>
          <a:solidFill>
            <a:srgbClr val="227EE6"/>
          </a:solidFill>
          <a:ln w="12700">
            <a:solidFill>
              <a:srgbClr val="22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999232"/>
            <a:ext cx="1362456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2264" y="3090672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788920"/>
            <a:ext cx="1508760" cy="1051560"/>
          </a:xfrm>
          <a:prstGeom prst="roundRect">
            <a:avLst/>
          </a:prstGeom>
          <a:solidFill>
            <a:srgbClr val="1EB8A6"/>
          </a:solidFill>
          <a:ln w="12700">
            <a:solidFill>
              <a:srgbClr val="1E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7752" y="2999232"/>
            <a:ext cx="1362456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3090672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788920"/>
            <a:ext cx="1508760" cy="1051560"/>
          </a:xfrm>
          <a:prstGeom prst="roundRect">
            <a:avLst/>
          </a:prstGeom>
          <a:solidFill>
            <a:srgbClr val="227EE6"/>
          </a:solidFill>
          <a:ln w="12700">
            <a:solidFill>
              <a:srgbClr val="22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999232"/>
            <a:ext cx="1362456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3090672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788920"/>
            <a:ext cx="1508760" cy="1051560"/>
          </a:xfrm>
          <a:prstGeom prst="roundRect">
            <a:avLst/>
          </a:prstGeom>
          <a:solidFill>
            <a:srgbClr val="F49D3B"/>
          </a:solidFill>
          <a:ln w="12700">
            <a:solidFill>
              <a:srgbClr val="F49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999232"/>
            <a:ext cx="1362456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2984" y="3090672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2788920"/>
            <a:ext cx="1508760" cy="1051560"/>
          </a:xfrm>
          <a:prstGeom prst="roundRect">
            <a:avLst/>
          </a:prstGeom>
          <a:solidFill>
            <a:srgbClr val="1EB8A6"/>
          </a:solidFill>
          <a:ln w="12700">
            <a:solidFill>
              <a:srgbClr val="1E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999232"/>
            <a:ext cx="1362456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3224" y="3090672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2788920"/>
            <a:ext cx="1508760" cy="1051560"/>
          </a:xfrm>
          <a:prstGeom prst="roundRect">
            <a:avLst/>
          </a:prstGeom>
          <a:solidFill>
            <a:srgbClr val="227EE6"/>
          </a:solidFill>
          <a:ln w="12700">
            <a:solidFill>
              <a:srgbClr val="22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8712" y="2999232"/>
            <a:ext cx="1362456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Deploy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34340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599432"/>
            <a:ext cx="68580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EB8A6"/>
                </a:solidFill>
                <a:latin typeface="Aptos"/>
              </a:rPr>
              <a:t>DVC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599432"/>
            <a:ext cx="384048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0C1F36"/>
                </a:solidFill>
                <a:latin typeface="Aptos"/>
              </a:rPr>
              <a:t>raw videos → landmarks → processed splits →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4599432"/>
            <a:ext cx="91440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F49D3B"/>
                </a:solidFill>
                <a:latin typeface="Aptos"/>
              </a:rPr>
              <a:t>MLflow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599432"/>
            <a:ext cx="3749039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0C1F36"/>
                </a:solidFill>
                <a:latin typeface="Aptos"/>
              </a:rPr>
              <a:t>parameters • metrics • confusion matrices • artifacts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227EE6"/>
                </a:solidFill>
                <a:latin typeface="Aptos"/>
              </a:rPr>
              <a:t>Signer-aware split prevents data leakage and gives an honest generalization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Evaluation plan and 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06  |  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12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227EE6"/>
                </a:solidFill>
                <a:latin typeface="Aptos"/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480560" cy="288036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Top-1 and top-5 accuracy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Macro-F1 and confusion matrix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FPS, response latency, and model size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Word error rate for short continuous clips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Performance per signer and on custom clips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257800" cy="4526280"/>
          </a:xfrm>
          <a:prstGeom prst="roundRect">
            <a:avLst/>
          </a:prstGeom>
          <a:solidFill>
            <a:srgbClr val="0C1F36"/>
          </a:solidFill>
          <a:ln w="12700">
            <a:solidFill>
              <a:srgbClr val="0C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572768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1EB8A6"/>
                </a:solidFill>
                <a:latin typeface="Aptos"/>
              </a:rPr>
              <a:t>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148840"/>
            <a:ext cx="4434840" cy="25603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60–80% top-1 accuracy is a realistic initial target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Over 20 FPS end-to-end for a lightweight landmark model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Clear accuracy vs speed comparison table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Working live demo plus recorded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5029200"/>
            <a:ext cx="42976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CBE0EE"/>
                </a:solidFill>
                <a:latin typeface="Aptos"/>
              </a:rPr>
              <a:t>We will report limitations, not hide failure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Tools mapped to the professor's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07  |  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63039"/>
            <a:ext cx="2103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54697E"/>
                </a:solidFill>
                <a:latin typeface="Aptos"/>
              </a:rPr>
              <a:t>Version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463039"/>
            <a:ext cx="2194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227EE6"/>
                </a:solidFill>
                <a:latin typeface="Aptos"/>
              </a:rP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463039"/>
            <a:ext cx="5669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0C1F36"/>
                </a:solidFill>
                <a:latin typeface="Aptos"/>
              </a:rPr>
              <a:t>Branches, issues, pull requests, visible contributions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48840"/>
            <a:ext cx="10744200" cy="749808"/>
          </a:xfrm>
          <a:prstGeom prst="roundRect">
            <a:avLst/>
          </a:prstGeom>
          <a:solidFill>
            <a:srgbClr val="E5F0F8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2103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54697E"/>
                </a:solidFill>
                <a:latin typeface="Aptos"/>
              </a:rPr>
              <a:t>Data versioning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286000"/>
            <a:ext cx="2194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227EE6"/>
                </a:solidFill>
                <a:latin typeface="Aptos"/>
              </a:rPr>
              <a:t>DVC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286000"/>
            <a:ext cx="5669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0C1F36"/>
                </a:solidFill>
                <a:latin typeface="Aptos"/>
              </a:rPr>
              <a:t>Reproducible data and model artifacts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71800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108960"/>
            <a:ext cx="2103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54697E"/>
                </a:solidFill>
                <a:latin typeface="Aptos"/>
              </a:rPr>
              <a:t>Experiment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108960"/>
            <a:ext cx="2194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227EE6"/>
                </a:solidFill>
                <a:latin typeface="Aptos"/>
              </a:rPr>
              <a:t>MLflow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108960"/>
            <a:ext cx="5669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0C1F36"/>
                </a:solidFill>
                <a:latin typeface="Aptos"/>
              </a:rPr>
              <a:t>Parameters, metrics, artifacts, model comparison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94760"/>
            <a:ext cx="10744200" cy="749808"/>
          </a:xfrm>
          <a:prstGeom prst="roundRect">
            <a:avLst/>
          </a:prstGeom>
          <a:solidFill>
            <a:srgbClr val="E5F0F8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31920"/>
            <a:ext cx="2103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54697E"/>
                </a:solidFill>
                <a:latin typeface="Aptos"/>
              </a:rPr>
              <a:t>AI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931920"/>
            <a:ext cx="2194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1EB8A6"/>
                </a:solidFill>
                <a:latin typeface="Aptos"/>
              </a:rPr>
              <a:t>PyTorch + MediaPipe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931920"/>
            <a:ext cx="5669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0C1F36"/>
                </a:solidFill>
                <a:latin typeface="Aptos"/>
              </a:rPr>
              <a:t>Temporal models and landmark extraction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17720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754880"/>
            <a:ext cx="2103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54697E"/>
                </a:solidFill>
                <a:latin typeface="Aptos"/>
              </a:rPr>
              <a:t>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754880"/>
            <a:ext cx="2194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1EB8A6"/>
                </a:solidFill>
                <a:latin typeface="Aptos"/>
              </a:rPr>
              <a:t>FastAPI + Streamlit/Gradio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754880"/>
            <a:ext cx="5669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0C1F36"/>
                </a:solidFill>
                <a:latin typeface="Aptos"/>
              </a:rPr>
              <a:t>Free real-time API and 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227EE6"/>
                </a:solidFill>
                <a:latin typeface="Aptos"/>
              </a:rPr>
              <a:t>All selected tools are free/open-source and designed to run on a normal laptop.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Team roles and continuous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08  |  0:45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300" b="1">
                <a:solidFill>
                  <a:srgbClr val="227EE6"/>
                </a:solidFill>
                <a:latin typeface="Aptos"/>
              </a:rPr>
              <a:t>Student A  •  Vision /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526280" cy="25603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Dataset preparation and signer-aware splits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Landmark extraction and normalization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GRU, Transformer, CNN+LSTM training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MLflow experiments and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27632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1EB8A6"/>
                </a:solidFill>
                <a:latin typeface="Aptos"/>
              </a:rPr>
              <a:t>Student B  •  Real-time / MLOps /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4526280" cy="25603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Webcam pipeline and temporal smoothing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DVC pipeline and reproducibility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FastAPI + frontend integration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Docker and drift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97880"/>
            <a:ext cx="102412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49D3B"/>
                </a:solidFill>
                <a:latin typeface="Aptos"/>
              </a:rPr>
              <a:t>Both: evaluation, custom clips, report, and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09  |  0:30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0C1F36"/>
          </a:solidFill>
          <a:ln w="12700">
            <a:solidFill>
              <a:srgbClr val="0C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874519"/>
            <a:ext cx="95097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"/>
              </a:rPr>
              <a:t>A useful, measurable, reproducible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97480"/>
            <a:ext cx="95097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0">
                <a:solidFill>
                  <a:srgbClr val="CEE8F4"/>
                </a:solidFill>
                <a:latin typeface="Aptos"/>
              </a:rPr>
              <a:t>Recognize isolated signs  •  compare models honestly  •  run in real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29000"/>
            <a:ext cx="95097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EB8A6"/>
                </a:solidFill>
                <a:latin typeface="Aptos"/>
              </a:rPr>
              <a:t>GitHub + DVC + MLflow make the progress visible and reproducible.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227EE6"/>
                </a:solidFill>
                <a:latin typeface="Aptos"/>
              </a:rP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